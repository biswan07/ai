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D2D2D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55555"/>
                </a:solidFill>
                <a:latin typeface="Montserrat"/>
              </a:defRPr>
            </a:pPr>
            <a:r>
              <a:t>Value-based positioning through bundling, data leverage, and AI-enabled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Montserrat"/>
              </a:defRPr>
            </a:pPr>
            <a:r>
              <a:t>Prepared for: Equifax Australia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66666"/>
                </a:solidFill>
                <a:latin typeface="Montserrat"/>
              </a:defRPr>
            </a:pPr>
            <a:r>
              <a:t>October 23,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Equifax Australia is market leader with 16M+ consumers and 2M+ businesses in database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Strategic objective: Shift to value-based positioning to increase WTP and defend price power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Core patterns: Bundling, Lock-In (integration), Data Leverage, AI/Digitalization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WTP model: WTP = α(IQS × BCS) + β(ID) + γ(CES) + δ(TS)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Scenario: Bundled Enterprise drives ~2.4x higher WTP vs Basic in exemplar model (0.89 vs 0.37)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Competitive context: Experian + illion (AUD 820M) scaling data breadth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Roadmap: Q1–Q4 rollout of bundles, API stickiness, compliance dashboards, AI explainability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KPIs: Bundle penetration, Integration depth, Compliance usage, Trust/NPS, WTP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Company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Mission: Help people and organizations live their financial best by delivering trusted data insights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Equifax Inc. global presence; Australia HQ in North Sydney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16M+ Australian consumer records and 2M+ business profiles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Part of global workforce of 14,000+ employees across 24 countries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Credit Information &amp; Risk Management: Comprehensive consumer credit reports and scores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Fraud Prevention &amp; Identity Verification: Advanced solutions like IDMatrix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Commercial Insights &amp; Analytics: SwiftCheck, financial viability assessments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Data-Driven Marketing: Targeted customer engagement using proprietary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Industry &amp; Competitive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Market: Credit reporting &amp; data analytics (ANZSIC 7293) – high barriers, regulated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Market concentration: 3 major bureaus; Equifax primary provider to most large lenders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Comprehensive Credit Reporting (CCR) expands positive data use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Tech shift: AI/ML, automation, real-time decisioning transforming credit scoring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Heightened data privacy &amp; cybersecurity expectations following global scrutiny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Experian Australia: Global platform with consumer/business credit, fraud detection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illion: Acquired by Experian for ~AUD 820M; formerly Dun &amp; Bradstreet ANZ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Indirect competitors: Credit Savvy, ClearScore, GetCreditScore, CreditorWatch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Strategic Challenge – Value-Based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Objective: Increase customers' willingness-to-pay by elevating perceived value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Goal: Expand bundle coverage across use cases (credit, ID, fraud, analytics)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Goal: Deepen API integration to raise switching costs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Goal: Simplify compliance and elevate trust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Goal: Differentiate via AI insight quality and explainability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Success Metrics: Premium price realization, Higher ARPU, Lower churn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Success Metrics: Higher bundle penetration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Business Model Pattern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Value Creation: Bundling, Lock-In, Data Leverage, AI/Digitalization → Increase WTP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Pricing: Value-Based Pricing, Hybrid models, Price Discrimination → Capture WTP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Power: Switching Costs, Network Effects, Brand/Reputation → Defend Margins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Cost Efficiency: Economies of Scale, Vertical Integration, Platform-as-a-Service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Four categories drive value across different dimensions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Focus on WTP (Willingness-To-Pay) as primary value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Value Creation Patterns – Detailed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Bundling: Credit + ID + Fraud + Analytics packages; tiered to roles and outcomes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Lock-In (Integration): API embedding into underwriting/fraud workflows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Data Leverage: Proprietary datasets; local market signals; client data co-development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AI/Digitalization: Real-time ML scoring; explainability dashboards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Process Flow: Data Ingestion → Analytics → Decision → Monitoring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16M+ consumers, 2M+ businesses feeding ML models and risk scoring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API delivery and workflow integration for seamless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WTP Formula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WTP = α(IQS × BCS) + β(ID) + γ(CES) + δ(TS)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IQS: Insight Quality Score - Measures accuracy, timeliness, and depth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BCS: Bundle Coverage Score - Breadth of use cases covered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ID: Integration Depth - Degree of API/workflow embedding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CES: Compliance Ease Score - Simplicity of regulatory compliance support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TS: Trust Score - Brand perception, security confidence, reliability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Weights α, β, γ, δ calibrated through customer research and pricing experiments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Operational Quantification – Variables &amp;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IQS: Model AUC/KS, latency, coverage (0-1) | Target: 0.8-1.0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BCS: Modules normalized (0-1) | Target: 0.7-1.0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ID: Endpoints/workflows per client (0-1) | Target: 5+ endpoints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CES: Customer ratings, audit feature usage (0-1) | Target: 0.75-1.0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TS: NPS/trust index (0-1) | Target: 8/10+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Data sources: Analytics metrics, client utilization, API usage, surveys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All variables measured and tracked quarterly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WTP Scenario Analysis –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Weights: α=0.5, β=0.2, γ=0.2, δ=0.1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Basic Tier: IQS=0.60, BCS=0.50, ID=0.30, CES=0.40, TS=0.80 → WTP=0.37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Pro Tier: IQS=0.75, BCS=0.70, ID=0.60, CES=0.70, TS=0.80 → WTP=0.60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Enterprise Tier: IQS=0.90, BCS=1.00, ID=0.90, CES=0.90, TS=0.80 → WTP=0.89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Enterprise tier shows ~2.4x higher WTP than Basic tier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Bundle coverage and insight quality are key multiplicative drivers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Integration depth and compliance ease add significant incremental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Competitive Benchmarking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Scope: Data breadth/depth, analytics sophistication, integration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Equifax: Strong integration depth (0.8), solid insight quality (0.75)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Experian+illion: Higher insight quality (0.85), good integration (0.65)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Post-acquisition Experian+illion gaining ground in data breadth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Equifax maintains lead in workflow integration and API embedding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Strategic positioning: Double down on integration depth and compliance utility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Focus on trust and regulatory compliance as 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Benchmark Insights – Variable-by-Variable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IQS: Leverage larger dataset and local market expertise for unique insights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BCS: Differentiate by deepening niche modules like public-sector compliance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ID: Use incumbent status to raise switching costs through deeper integrations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CES: Emphasize regulatory domain expertise in Australia (CCR, Privacy Act)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TS: Reinforce trust advantage through security certifications and transparency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Opportunity: Build automated compliance dashboards with audit-ready reporting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Opportunity: Promote 'unique insight' and 'local market expertise'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Strategic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Push IQS × BCS: Develop broader, deeper bundles with superior insight quality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Maximize Integration Depth: Implement co-development initiatives and plug-ins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Elevate Compliance Ease: Deploy compliance dashboards and automated alerts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Reinforce Trust Score: Showcase security certifications and regulatory leadership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Value-Based Pricing: Implement tiered, outcome-linked pricing structures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Focus on multiplicative value drivers (IQS × BCS) for maximum impact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Build switching costs through deep API and workflow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Implementation Roadmap Overview (Q1–Q4)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Q1: Finalize bundle structure and pricing tiers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Q1-Q2: Launch initial bundles with pilot clients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Q2-Q3: Develop enhanced API integration toolkit and developer portal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Q2-Q4: Pilot and deploy compliance dashboard across client base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Q3-Q4: Develop and deploy AI explainability modules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Q1-Q4: Continuous client interviews and co-development programs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Q4: Full rollout of enterprise bundles and integration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Operational Levers – Bundling &amp;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Bundling: Tiered Solutions - Essentials, Advanced, and Enterprise packages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Role-Based Packaging: Tailored to risk managers, compliance officers, fraud analysts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Outcome Messaging: Frame bundles around measurable outcomes (reduce default risk)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Integration: Custom API Toolkits with sandbox environments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Decision Engine Connectors: Embed into underwriting and fraud workflows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Co-Development Hooks: ML models customizable with client outcome data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Control: Monitor cross-sell rates and API client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Operational Levers – Compliance &amp;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Compliance: RegTech-as-a-Service for CCR, AML/KYC, Privacy Act obligations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Compliance Dashboards: Visualize audit trails and data usage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Automated Alerts: Notifications when portfolios breach regulatory thresholds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Trust: Cybersecurity Differentiation - Promote certifications and encryption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Local Regulatory Alignment: Highlight role in shaping AU-specific regulations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Case Studies: Develop proof points of fraud/loss prevention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Transparency: Offer explainability tools for AI models in credit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Control Points &amp; KPI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Bundle Penetration Rate: Target 75%, Current 65%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Average Integration Depth: Target 5 endpoints, Current 4.2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Compliance Module Usage: Target 80%, Current 68%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Trust/NPS Score: Target 8/10, Current 7.2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WTP Index: Target 0.8, Current 0.65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Measurement Frequency: Monthly for operational, Quarterly for strategic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Control Points: Monthly leadership dashboard review, Quarterly bundle adjustments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Risk Management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Threat: Low-price competitor bundles (High Risk)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Mitigation: Flexible modular pricing &amp; highlight AI/compliance differentiation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Threat: Economic downturn usage reduction (Medium-High Risk)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Mitigation: Performance pricing and ROI guarantees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Threat: Regulatory data access restrictions (Medium Risk)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Mitigation: Analytics innovation using permitted data, diversify signal sources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Threat: SME integration burden (Low-Medium Risk)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Mitigation: Build no-code UI/API bridge for less technical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WTP Variable Tracking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IQS: Owner - Head of Data Science | Current 0.78 | Launch explainability module Q4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BCS: Owner - Product Strategy Lead | Current 0.65 | Introduce compliance scoring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ID: Owner - CTO | Current 4.2 endpoints | Expand developer portal &amp; SDK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CES: Owner - Risk &amp; Legal | Current 0.68 | Add automated regulatory reports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TS: Owner - Customer Success | Current 7.2 | Publish security certifications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All variables measured quarterly with assigned owners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Action items tracked to close gaps to target ranges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Key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1. Accelerate bundling: Implement tiered packages with outcome-led offerings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2. Deepen integration: Enhance API toolkits and embed into client workflows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3. Launch compliance dashboards: Develop RegTech-as-a-Service solution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4. Embed AI explainability: Create transparency tools for AI-driven decisions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5. Establish WTP governance: Implement quarterly measurement of all variables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Focus on raising switching costs through deeper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Position Equifax as the compliance simplifier for Australian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2D2D"/>
                </a:solidFill>
                <a:latin typeface="Montserrat"/>
              </a:defRPr>
            </a:pPr>
            <a:r>
              <a:t>Next Steps &amp;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7432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Next 30-60 Days: Validate WTP Weights via 10-15 Client Interviews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Finalize Bundle SKUs and Pricing - Launch pilot with 3 anchor clients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Stand Up KPI Dashboard - Implement tracking and assign metric owners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Prepare Security/Compliance Collateral - Develop trust-building materials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Establish quarterly review cadence for WTP variable tracking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Begin co-development programs with key enterprise clients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Contact: Your Equifax Australia Strategy Team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ontserrat"/>
              </a:defRPr>
            </a:pPr>
            <a:r>
              <a:t>Equifax Australia Value Creation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  <a:latin typeface="Montserrat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